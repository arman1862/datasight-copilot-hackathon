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114800" cy="347472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7490"/>
                </a:solidFill>
                <a:latin typeface="Segoe UI"/>
              </a:defRPr>
            </a:pPr>
            <a:r>
              <a:t>HACKTIV8 × IBM SKILLSBUILD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Segoe UI"/>
              </a:defRPr>
            </a:pPr>
            <a:r>
              <a:t>DataSight Copilot</a:t>
            </a:r>
          </a:p>
          <a:p>
            <a:pPr>
              <a:spcBef>
                <a:spcPts val="400"/>
              </a:spcBef>
              <a:defRPr sz="1900" b="1">
                <a:solidFill>
                  <a:srgbClr val="0E7490"/>
                </a:solidFill>
                <a:latin typeface="Segoe UI"/>
              </a:defRPr>
            </a:pPr>
            <a:r>
              <a:t>Strategic Academic Curriculum &amp; Prerequisite Risk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Sistem pendukung keputusan akademik berbasis AI yang mengaudit kesehatan kurikulum program studi, mendeteksi efek domino kegagalan prasyarat hulu, serta memandu kebijakan intervensi Ketua Program Studi (Kaprodi) melalui rekomendasi Human-in-the-Loop berstandar Outcome-Based Education (OBE) dan SN-Dikti.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2514600" cy="164592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Orchestrator Agent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IBM Bob sebagai agen percakapan, gatekeeper validasi, &amp; eksekutor keputusan.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4206240"/>
            <a:ext cx="251460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Headless Engine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IBM Langflow 2-stage pipeline (schema normalizer &amp; graph risk reasoning).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206240"/>
            <a:ext cx="251460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Protokol Integrasi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Model Context Protocol (MCP) streamable HTTP contract tanpa data lock-in.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4206240"/>
            <a:ext cx="251460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Standar Kebijakan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Standar Nasional Dikti (Permendikbudristek 53/2023) &amp; IKU 7 (Kelas Partisipatif).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Inovator: Muhammad Arjuna Mahendratama | Institusi: Politeknik Astra | Tema: Education &amp; Future of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7490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Kebutaan Rantai Prasyarat di Tingkat Program Studi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02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Tantangan Evaluasi Kurikulum Konvensional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1. Prerequisite Blindspot (Data Siloed &amp; Terisolasi):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Spreadsheet SIAKAD hanya menampilkan rata-rata nilai per mata kuliah secara terpisah. Kaprodi tidak dapat mendeteksi bagaimana lonjakan angka D/E di mata kuliah fondasi hulu secara langsung melumpuhkan kelulusan mata kuliah tingkat lanjut.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2. Keterlambatan Intervensi 2–3 Minggu: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Rekapitulasi korelasi 150+ mata kuliah dan puluhan ribu nilai mahasiswa secara manual memakan waktu berminggu-minggu dalam rapat senat kurikulum, sehingga tindakan perbaikan selalu terlambat satu semester.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3. Rekomendasi Normatif &amp; Non-Actionable: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Evaluasi akhir semester umumnya berhenti pada teguran nilai tanpa adanya cetak biru (blueprint) restrukturisasi silabus mingguan yang terukur bagi dosen pengampu.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150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Studi Kasus Kegagalan Berantai Nyata (UIUC Evidence)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Validasi empiris pada 28.000+ mahasiswa terdaftar (Riset Prof. Wade):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150815" cy="1280160"/>
          </a:xfrm>
          <a:prstGeom prst="roundRect">
            <a:avLst>
              <a:gd name="adj" fmla="val 3000"/>
            </a:avLst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📉 Rantai Matematika Fondasi (Calculus Bottleneck)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Hulu: MATH115 Preparation for Calculus (18.4% D/E)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Bottleneck: MATH220 Calculus I (20.2% D/E | Absensi: 64.8%)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➔ Melumpuhkan kelulusan mata kuliah hilir: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  MATH241 Calc III (8.6% D/E) &amp; ECE210 Sinyal Analog (15.1% D/E)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337560"/>
            <a:ext cx="5150815" cy="128016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💻 Rantai Ilmu Komputer (Gatekeeper Bottleneck)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Transisi: CS124 (4.3% D/E) ➔ CS128 Intro CS II (8.7% D/E) melonjak 2x!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Gatekeeper: CS225 Data Structures (6.6% D/E)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➔ Menahan mahasiswa masuk ke mata kuliah spesialisasi: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  CS473 Algoritma Lanjut (8.6% D/E) &amp; ECE391 Sistem Komputer (12.9% D/E)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754880"/>
            <a:ext cx="5150815" cy="132588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⚠️ Dampak Sistemik Teridentifikasi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Efek Domino: Kegagalan di hulu menahan mahasiswa di semester 1–3.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Mahasiswa Over-stayer: Masa studi molor rata-rata 1–2 semester.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Penurunan Akreditasi: Menurunkan efisiensi kelulusan (IKU 1 &amp; IKU 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7490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DataSight Copilot: AI-Driven Decision Support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03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Pilar Inovasi Solusi DataSight Copilot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1. Relational Risk Graph Reasoning: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AI tidak sekadar menghitung statistik deskriptif; engine membangun graf relasi prasyarat multivariat untuk memetakan alur risiko hulu ke hilir secara instan (~30 detik vs 3 minggu rapat manual).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2. Human-in-the-Loop (HITL) Decision Cards: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Menghindari over-reliance atau AI berhalusinasi. Sistem menyajikan 3 Kartu Skenario Keputusan taktis: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[Opsi A] Investigasi Silabus Fondasi (MATH115, MATH220, CS124/128)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[Opsi B] Audit Metode Asesmen OBE (IKU 7: Case Method/Project)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[Opsi C] Klinik Asistensi &amp; Remedial 23.400+ Mahasiswa D/E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3. Dual Deliverable Generation: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Secara otomatis memproduksi 2 output terintegrasi: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Draf Laporan Eksekutif Senat Kurikulum (HTML formal siap cetak).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Dashboard Web Interaktif ECharts dengan threshold slider dinamis.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50815" cy="3456432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19088" y="1490472"/>
            <a:ext cx="82296" cy="82296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47104" y="1490472"/>
            <a:ext cx="82296" cy="82296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490472"/>
            <a:ext cx="82296" cy="82296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435608"/>
            <a:ext cx="4419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IBM Bob Chat — Human-in-the-Loop Decision Cards</a:t>
            </a:r>
          </a:p>
        </p:txBody>
      </p:sp>
      <p:pic>
        <p:nvPicPr>
          <p:cNvPr id="13" name="Picture 12" descr="04-bob-card-recome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73352"/>
            <a:ext cx="5150815" cy="3200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673352"/>
            <a:ext cx="5150815" cy="32004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5029200"/>
            <a:ext cx="5150815" cy="132588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Akurasi Kebijakan Melalui Interaksi Cerdas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Kaprodi memilih [A] / [B] / [C] langsung di chat. IBM Bob secara responsif membedahnya menjadi cetak biru operasional 4 mingguan yang siap disahkan senat.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7490"/>
                </a:solidFill>
                <a:latin typeface="Segoe UI"/>
              </a:defRPr>
            </a:pPr>
            <a:r>
              <a:t>ARCHITECTURE &amp; MCP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Pemisahan Logika Percakapan &amp; Komputasi Analitik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04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0292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Arsitektur Resmi Model Context Protocol (MCP)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🤖 IBM Bob (Conversational Orchestrator):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Strict Input Gate: Memvalidasi ketersediaan berkas CSV riil sebelum eksekusi dimulai.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Local File Ingestion: Membaca berkas CSV SIAKAD langsung dari environment lokal prodi.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Context Memory: Menjaga alur intervensi pasca-audit secara persisten.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⚡ IBM Langflow (Analytical Execution Engine):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MCP Streamable HTTP: Didaftarkan sebagai external tool datasight_academic_decision_su.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Stage 1 — Schema Normalizer: Fuzzy column mapping yang kebal variasi nama kolom CSV SIAKAD.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LLM 1 (Flash Lite): Headless extractor data terstruktur tanpa kebocoran data.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Stage 2 — Risk Auditor: Graph reasoning prasyarat berstandar SN-Dikti &amp; OBE.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LLM 2 (Flash Lite): Sintesis tabel eksekutif dan rekomendasi intervensi.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17320"/>
            <a:ext cx="5425135" cy="3456432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44768" y="1490472"/>
            <a:ext cx="82296" cy="82296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72784" y="1490472"/>
            <a:ext cx="82296" cy="82296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490472"/>
            <a:ext cx="82296" cy="82296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35608"/>
            <a:ext cx="4693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IBM Langflow — 2-Stage Analytical Pipeline Canvas</a:t>
            </a:r>
          </a:p>
        </p:txBody>
      </p:sp>
      <p:pic>
        <p:nvPicPr>
          <p:cNvPr id="13" name="Picture 12" descr="02-langflow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73352"/>
            <a:ext cx="5425135" cy="3200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035040" y="1673352"/>
            <a:ext cx="5425135" cy="32004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5029200"/>
            <a:ext cx="5425135" cy="132588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Kesesuaian Rubrik Teknis (Slide 9 &amp; 16 Panduan)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Langflow memikul beban komputasi analitik deterministik yang dapat diuji mandiri; Bob bertindak sebagai cognitive UI yang memandu interaksi pengambil keputusan.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7490"/>
                </a:solidFill>
                <a:latin typeface="Segoe UI"/>
              </a:defRPr>
            </a:pPr>
            <a:r>
              <a:t>EMPIRICAL VALIDATION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Uji Klinis pada Data Riil Skala Raksasa (UIUC Dataset)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05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14600" cy="1143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defRPr sz="2400" b="1">
                <a:solidFill>
                  <a:srgbClr val="0E7490"/>
                </a:solidFill>
                <a:latin typeface="Segoe UI"/>
              </a:defRPr>
            </a:pPr>
            <a:r>
              <a:t>154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Mata Kuliah Riil</a:t>
            </a:r>
            <a:br/>
            <a:r>
              <a:t>CS + ECE + MATH Aktif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417320"/>
            <a:ext cx="2514600" cy="1143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defRPr sz="2400" b="1">
                <a:solidFill>
                  <a:srgbClr val="0E7490"/>
                </a:solidFill>
                <a:latin typeface="Segoe UI"/>
              </a:defRPr>
            </a:pPr>
            <a:r>
              <a:t>28.977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Mahasiswa Terdata</a:t>
            </a:r>
            <a:br/>
            <a:r>
              <a:t>Seluruh seksi kelas semester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2514600" cy="1143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defRPr sz="2400" b="1">
                <a:solidFill>
                  <a:srgbClr val="0E7490"/>
                </a:solidFill>
                <a:latin typeface="Segoe UI"/>
              </a:defRPr>
            </a:pPr>
            <a:r>
              <a:t>41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Relasi Prasyarat</a:t>
            </a:r>
            <a:br/>
            <a:r>
              <a:t>Graf ketergantungan lintas dept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1417320"/>
            <a:ext cx="2514600" cy="11430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defRPr sz="2400" b="1">
                <a:solidFill>
                  <a:srgbClr val="0E7490"/>
                </a:solidFill>
                <a:latin typeface="Segoe UI"/>
              </a:defRPr>
            </a:pPr>
            <a:r>
              <a:t>~30 dtk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Waktu Eksekusi</a:t>
            </a:r>
            <a:br/>
            <a:r>
              <a:t>End-to-end processing instan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6217920" cy="3547872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2816352"/>
            <a:ext cx="82296" cy="82296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4" y="2816352"/>
            <a:ext cx="82296" cy="82296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2816352"/>
            <a:ext cx="82296" cy="82296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761488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DataSight Academic Web Dashboard (Apache ECharts)</a:t>
            </a:r>
          </a:p>
        </p:txBody>
      </p:sp>
      <p:pic>
        <p:nvPicPr>
          <p:cNvPr id="16" name="Picture 15" descr="05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99232"/>
            <a:ext cx="6217920" cy="32918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1520" y="2999232"/>
            <a:ext cx="6217920" cy="329184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2743200"/>
            <a:ext cx="4327855" cy="3566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Temuan Selaras Riset Resmi UIUC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Validasi Empiris Riset Prof. Wade Fagen-Ulmschneider: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1. Weed-Out Course Identification: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AI mendeteksi MATH220 (20.2% D/E) &amp; CS128 (8.7% D/E) sebagai sumber risiko utama kegagalan mahasiswa.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2. Gatekeeper Bottleneck: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CS225 (Data Structures) terbukti menjadi titik penumpukan beban sebelum masuk ke level 300 &amp; 400.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3. Interactive Web Dashboard: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Dilengkapi slider ambang kritis dinamis (1%–30%), scatter plot absensi vs kelulusan, dan filter per departemen secara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7490"/>
                </a:solidFill>
                <a:latin typeface="Segoe UI"/>
              </a:defRPr>
            </a:pPr>
            <a:r>
              <a:t>RESPONSIBLE AI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Etika, Privasi, &amp; Tata Kelola AI Sesuai Pedoman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06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30352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Kepatuhan Penuh Pedoman Slide 45–49 Panduan Hacktiv8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1. Minimalisasi Data (Privacy by Design — Slide 48):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Sistem HANYA memproses data agregat performa kelas (total mahasiswa, distribusi grade A-E, rata-rata absensi).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Zero-PII: Tidak ada NIM, Nama Mahasiswa, atau data pribadi yang dikirimkan ke model AI.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Sepenuhnya patuh UU Perlindungan Data Pribadi (UU PDP No. 27/2022).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2. Transparansi &amp; No False Causality (Slide 49):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AI secara eksplisit menyertakan Academic Integrity Disclaimer.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Menegaskan bahwa relasi prasyarat adalah korelasi pola pedagogis empiris, bukan kausalitas mutlak performa individu.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3. Human Oversight &amp; Auditability (Slide 45):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AI tidak mengubah kurikulum secara sepihak (Human Veto).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 • Seluruh rekomendasi wajib disetujui Kaprodi dan disahkan melalui Laporan Senat bertanda tangan.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50815" cy="3456432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19088" y="1490472"/>
            <a:ext cx="82296" cy="82296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47104" y="1490472"/>
            <a:ext cx="82296" cy="82296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490472"/>
            <a:ext cx="82296" cy="82296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435608"/>
            <a:ext cx="44192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Executive Audit Report — Siap Cetak Rapat Senat Kurikulum</a:t>
            </a:r>
          </a:p>
        </p:txBody>
      </p:sp>
      <p:pic>
        <p:nvPicPr>
          <p:cNvPr id="13" name="Picture 12" descr="06-executive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73352"/>
            <a:ext cx="5150815" cy="3200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673352"/>
            <a:ext cx="5150815" cy="32004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5029200"/>
            <a:ext cx="5150815" cy="132588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Akuntabilitas &amp; Tata Kelola Legal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Menghasilkan dokumen resmi dengan kop lembaga, matriks analisis risiko, rincian blueprint 4 minggu, dan lembar verifikasi Kaprodi.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74320"/>
          </a:xfrm>
          <a:prstGeom prst="roundRect">
            <a:avLst>
              <a:gd name="adj" fmla="val 30000"/>
            </a:avLst>
          </a:prstGeom>
          <a:solidFill>
            <a:srgbClr val="F0F9FF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7490"/>
                </a:solidFill>
                <a:latin typeface="Segoe UI"/>
              </a:defRPr>
            </a:pPr>
            <a:r>
              <a:t>IMPACT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Dampak Terukur &amp; Skalabilitas Perguruan Tinggi Nasional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07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01568" cy="105156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⚡ 99% Time Reduction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Memangkas rapat senat dari 2–3 minggu kerja manual menjadi &lt;1 menit.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01568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23.400+ Mahasiswa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Mitigasi preventif efek domino kegagalan di mata kuliah fondasi hulu.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01568" cy="1051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🎯 100% Standar Dikti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Kepatuhan akreditasi Outcome-Based Education (OBE) &amp; IKU 7 Kemendikbudristek.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5212080" cy="3749039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📈 Dampak Kuantitatif &amp; Kualitatif Institusional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Efisiensi Rapat Senat Kurikulum: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Otomatisasi pengolahan 28.000+ nilai mahasiswa menghasilkan draf rekomendasi kebijakan secara instan tanpa perdebatan tanpa data.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Penyelamatan Angka Kelulusan Tepat Waktu: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Menghentikan fenomena 'weed-out' tersembunyi dengan merekomendasikan bridging course sebelum mahasiswa mengambil mata kuliah lanjutan.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Otomatisasi Bukti Akreditasi LAM &amp; BAN-PT: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Menyediakan laporan evaluasi CPL/CPMK siap audit dengan metodologi terukur dan data empiris.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06040"/>
            <a:ext cx="521208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201168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🚀 Rencana Pengembangan &amp; Skalabilitas Nasional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Fase 1 — Integrasi API SIAKAD &amp; NeoFeeder PDDikti: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Konektor langsung ke platform SIAKAD terpopuler di Indonesia (Sevima, SiakadCloud, Indoweb) dan sinkronisasi NeoFeeder Kemendikbudristek.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Fase 2 — Multi-Tenant SaaS Perguruan Tinggi: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Penyediaan layanan cloud terpusat untuk melayani 4.500+ perguruan tinggi di Indonesia secara mandiri, aman, dan scalable.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• Fase 3 — Autonomous Remedial Assistant:</a:t>
            </a:r>
          </a:p>
          <a:p>
            <a:pPr>
              <a:spcAft>
                <a:spcPts val="300"/>
              </a:spcAft>
              <a:defRPr sz="1050">
                <a:solidFill>
                  <a:srgbClr val="475569"/>
                </a:solidFill>
                <a:latin typeface="Segoe UI"/>
              </a:defRPr>
            </a:pPr>
            <a:r>
              <a:t>  Ekspansi modul pembinaan mahasiswa: rekomendasi modul mikro-learning dan tutorial LMS adaptif bagi mahasiswa di zona risiko D/E.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